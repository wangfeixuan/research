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E3045"/>
                </a:solidFill>
                <a:latin typeface="Arial"/>
              </a:defRPr>
            </a:pPr>
            <a:r>
              <a:t>Learning Image Representations for Clustering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972800" cy="22860"/>
          </a:xfrm>
          <a:prstGeom prst="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44536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0">
                <a:solidFill>
                  <a:srgbClr val="1B69AA"/>
                </a:solidFill>
                <a:latin typeface="Arial"/>
              </a:defRPr>
            </a:pPr>
            <a:r>
              <a:t>Fashion-MNIST: raw pixels, PCA, AE, and VAE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1752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445363"/>
                </a:solidFill>
                <a:latin typeface="Arial"/>
              </a:defRPr>
            </a:pPr>
            <a:r>
              <a:t>Week 5 mini research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0292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3045"/>
                </a:solidFill>
                <a:latin typeface="Arial"/>
              </a:defRPr>
            </a:pPr>
            <a:r>
              <a:t>Question: how does the representation change K-means clustering?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E3045"/>
                </a:solidFill>
                <a:latin typeface="Arial"/>
              </a:defRPr>
            </a:pPr>
            <a:r>
              <a:t>Question and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972800" cy="22860"/>
          </a:xfrm>
          <a:prstGeom prst="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44536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881360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445363"/>
                </a:solidFill>
                <a:latin typeface="Arial"/>
              </a:defRPr>
            </a:pPr>
            <a:r>
              <a:t>•  Fashion-MNIST contains 28 × 28 grayscale clothing images.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881360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445363"/>
                </a:solidFill>
                <a:latin typeface="Arial"/>
              </a:defRPr>
            </a:pPr>
            <a:r>
              <a:t>•  I trained on 20,000 images and evaluated clustering on 10,000 test images.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10881360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445363"/>
                </a:solidFill>
                <a:latin typeface="Arial"/>
              </a:defRPr>
            </a:pPr>
            <a:r>
              <a:t>•  Labels were used only after clustering to calculate NMI and ARI.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E3045"/>
                </a:solidFill>
                <a:latin typeface="Arial"/>
              </a:defRPr>
            </a:pPr>
            <a:r>
              <a:t>Four representations, one clustering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972800" cy="22860"/>
          </a:xfrm>
          <a:prstGeom prst="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44536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445363"/>
                </a:solidFill>
                <a:latin typeface="Arial"/>
              </a:defRPr>
            </a:pPr>
            <a:r>
              <a:t>•  Raw pixels: flatten each image to 784 values.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972800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445363"/>
                </a:solidFill>
                <a:latin typeface="Arial"/>
              </a:defRPr>
            </a:pPr>
            <a:r>
              <a:t>•  PCA: reduce pixel vectors to 20 components.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972800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445363"/>
                </a:solidFill>
                <a:latin typeface="Arial"/>
              </a:defRPr>
            </a:pPr>
            <a:r>
              <a:t>•  AE: use the encoder’s 20-value latent vector.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03320"/>
            <a:ext cx="10972800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445363"/>
                </a:solidFill>
                <a:latin typeface="Arial"/>
              </a:defRPr>
            </a:pPr>
            <a:r>
              <a:t>•  VAE: use the encoder’s 20-value mean vector.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10972800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445363"/>
                </a:solidFill>
                <a:latin typeface="Arial"/>
              </a:defRPr>
            </a:pPr>
            <a:r>
              <a:t>•  K-means stays fixed at K = 10 for every comparison.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E3045"/>
                </a:solidFill>
                <a:latin typeface="Arial"/>
              </a:defRPr>
            </a:pPr>
            <a:r>
              <a:t>AE and VAE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972800" cy="22860"/>
          </a:xfrm>
          <a:prstGeom prst="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44536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1B69AA"/>
                </a:solidFill>
                <a:latin typeface="Arial"/>
              </a:defRPr>
            </a:pPr>
            <a:r>
              <a:t>Autoencoder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51206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445363"/>
                </a:solidFill>
                <a:latin typeface="Arial"/>
              </a:defRPr>
            </a:pPr>
            <a:r>
              <a:t>Image → encoder → z → decoder → reconstruction</a:t>
            </a:r>
          </a:p>
          <a:p>
            <a:pPr>
              <a:defRPr sz="2100" b="0">
                <a:solidFill>
                  <a:srgbClr val="445363"/>
                </a:solidFill>
                <a:latin typeface="Arial"/>
              </a:defRPr>
            </a:pPr>
          </a:p>
          <a:p>
            <a:pPr>
              <a:defRPr sz="2100" b="0">
                <a:solidFill>
                  <a:srgbClr val="445363"/>
                </a:solidFill>
                <a:latin typeface="Arial"/>
              </a:defRPr>
            </a:pPr>
            <a:r>
              <a:t>Learns to rebuild the input image.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173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1B69AA"/>
                </a:solidFill>
                <a:latin typeface="Arial"/>
              </a:defRPr>
            </a:pPr>
            <a:r>
              <a:t>Variational autoencoder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65960"/>
            <a:ext cx="51206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445363"/>
                </a:solidFill>
                <a:latin typeface="Arial"/>
              </a:defRPr>
            </a:pPr>
            <a:r>
              <a:t>Image → encoder → μ and log σ² → sampled z → decoder</a:t>
            </a:r>
          </a:p>
          <a:p>
            <a:pPr>
              <a:defRPr sz="2100" b="0">
                <a:solidFill>
                  <a:srgbClr val="445363"/>
                </a:solidFill>
                <a:latin typeface="Arial"/>
              </a:defRPr>
            </a:pPr>
          </a:p>
          <a:p>
            <a:pPr>
              <a:defRPr sz="2100" b="0">
                <a:solidFill>
                  <a:srgbClr val="445363"/>
                </a:solidFill>
                <a:latin typeface="Arial"/>
              </a:defRPr>
            </a:pPr>
            <a:r>
              <a:t>Reconstruction and KL loss shape the latent space.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7492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E3045"/>
                </a:solidFill>
                <a:latin typeface="Arial"/>
              </a:defRPr>
            </a:pPr>
            <a:r>
              <a:t>For VAE clustering, I used μ because it does not change with sampling.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E3045"/>
                </a:solidFill>
                <a:latin typeface="Arial"/>
              </a:defRPr>
            </a:pPr>
            <a:r>
              <a:t>Experimental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972800" cy="22860"/>
          </a:xfrm>
          <a:prstGeom prst="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445363"/>
                </a:solidFill>
                <a:latin typeface="Arial"/>
              </a:defRPr>
            </a:pPr>
            <a:r>
              <a:t>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1155679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955279"/>
              </a:tblGrid>
              <a:tr h="640079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Setting</a:t>
                      </a:r>
                    </a:p>
                  </a:txBody>
                  <a:tcPr marL="91440" marR="64008" anchor="ctr">
                    <a:solidFill>
                      <a:srgbClr val="E2E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 marL="91440" marR="64008" anchor="ctr">
                    <a:solidFill>
                      <a:srgbClr val="E2EDF8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AE / VAE architecture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784 → 256 → 64 → latent → 64 → 256 → 784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Optimizer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Adam, learning rate 0.001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Batch size / epochs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256 / 5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Latent dimensions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2, 10, 20, 50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64008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K-means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K = 10, n_init = 10, random_state = 42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1E3045"/>
                </a:solidFill>
                <a:latin typeface="Arial"/>
              </a:defRPr>
            </a:pPr>
            <a:r>
              <a:t>Week 3 classification: MLP 88.04%  |  CNN 91.55% (Fashion-MNIST test accuracy)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E3045"/>
                </a:solidFill>
                <a:latin typeface="Arial"/>
              </a:defRPr>
            </a:pPr>
            <a:r>
              <a:t>Clustering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972800" cy="22860"/>
          </a:xfrm>
          <a:prstGeom prst="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445363"/>
                </a:solidFill>
                <a:latin typeface="Arial"/>
              </a:defRPr>
            </a:pPr>
            <a: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98755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920240"/>
                <a:gridCol w="1920240"/>
                <a:gridCol w="1920240"/>
              </a:tblGrid>
              <a:tr h="62179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Representation</a:t>
                      </a:r>
                    </a:p>
                  </a:txBody>
                  <a:tcPr marL="91440" marR="64008" anchor="ctr">
                    <a:solidFill>
                      <a:srgbClr val="E2E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Dimension</a:t>
                      </a:r>
                    </a:p>
                  </a:txBody>
                  <a:tcPr marL="91440" marR="64008" anchor="ctr">
                    <a:solidFill>
                      <a:srgbClr val="E2E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NMI</a:t>
                      </a:r>
                    </a:p>
                  </a:txBody>
                  <a:tcPr marL="91440" marR="64008" anchor="ctr">
                    <a:solidFill>
                      <a:srgbClr val="E2E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91440" marR="64008" anchor="ctr">
                    <a:solidFill>
                      <a:srgbClr val="E2ED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Raw pixels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784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0.5145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0.3497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PCA-20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0.5138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0.3506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AE-20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0.4471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0.2633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VAE-20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0.5713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0.4038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21208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E3045"/>
                </a:solidFill>
                <a:latin typeface="Arial"/>
              </a:defRPr>
            </a:pPr>
            <a:r>
              <a:t>VAE-20 led this run; AE-20 fell below raw pixels and PCA-20.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E3045"/>
                </a:solidFill>
                <a:latin typeface="Arial"/>
              </a:defRPr>
            </a:pPr>
            <a:r>
              <a:t>VAE dimension changes the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972800" cy="22860"/>
          </a:xfrm>
          <a:prstGeom prst="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445363"/>
                </a:solidFill>
                <a:latin typeface="Arial"/>
              </a:defRPr>
            </a:pPr>
            <a: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93268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194560"/>
                <a:gridCol w="2103120"/>
                <a:gridCol w="1554480"/>
                <a:gridCol w="1554480"/>
              </a:tblGrid>
              <a:tr h="57607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Dimension</a:t>
                      </a:r>
                    </a:p>
                  </a:txBody>
                  <a:tcPr marL="91440" marR="64008" anchor="ctr">
                    <a:solidFill>
                      <a:srgbClr val="E2E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Recon BCE</a:t>
                      </a:r>
                    </a:p>
                  </a:txBody>
                  <a:tcPr marL="91440" marR="64008" anchor="ctr">
                    <a:solidFill>
                      <a:srgbClr val="E2E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VAE loss</a:t>
                      </a:r>
                    </a:p>
                  </a:txBody>
                  <a:tcPr marL="91440" marR="64008" anchor="ctr">
                    <a:solidFill>
                      <a:srgbClr val="E2E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NMI</a:t>
                      </a:r>
                    </a:p>
                  </a:txBody>
                  <a:tcPr marL="91440" marR="64008" anchor="ctr">
                    <a:solidFill>
                      <a:srgbClr val="E2E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91440" marR="64008" anchor="ctr">
                    <a:solidFill>
                      <a:srgbClr val="E2EDF8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266.81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274.75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0.5327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0.3579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249.30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265.45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0.5548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0.3911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253.31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272.02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0.5713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0.4038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50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262.33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277.50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0.5095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E3045"/>
                          </a:solidFill>
                          <a:latin typeface="Arial"/>
                        </a:defRPr>
                      </a:pPr>
                      <a:r>
                        <a:t>0.3478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07492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3045"/>
                </a:solidFill>
                <a:latin typeface="Arial"/>
              </a:defRPr>
            </a:pPr>
            <a:r>
              <a:t>Lowest reconstruction BCE and VAE loss: d = 10. Best clustering: d = 20.</a:t>
            </a:r>
          </a:p>
          <a:p>
            <a:pPr>
              <a:defRPr sz="2100" b="1">
                <a:solidFill>
                  <a:srgbClr val="1E3045"/>
                </a:solidFill>
                <a:latin typeface="Arial"/>
              </a:defRPr>
            </a:pPr>
            <a:r>
              <a:t>A lower VAE loss did not guarantee a higher NMI or ARI.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E3045"/>
                </a:solidFill>
                <a:latin typeface="Arial"/>
              </a:defRPr>
            </a:pPr>
            <a:r>
              <a:t>Reconstruction and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972800" cy="22860"/>
          </a:xfrm>
          <a:prstGeom prst="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445363"/>
                </a:solidFill>
                <a:latin typeface="Arial"/>
              </a:defRPr>
            </a:pPr>
            <a:r>
              <a:t>8</a:t>
            </a:r>
          </a:p>
        </p:txBody>
      </p:sp>
      <p:pic>
        <p:nvPicPr>
          <p:cNvPr id="5" name="Picture 4" descr="vae_reconstructions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10881360" cy="1828800"/>
          </a:xfrm>
          <a:prstGeom prst="rect">
            <a:avLst/>
          </a:prstGeom>
        </p:spPr>
      </p:pic>
      <p:pic>
        <p:nvPicPr>
          <p:cNvPr id="6" name="Picture 5" descr="vae_generated_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3291840"/>
            <a:ext cx="3749039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3474720"/>
            <a:ext cx="3108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445363"/>
                </a:solidFill>
                <a:latin typeface="Arial"/>
              </a:defRPr>
            </a:pPr>
            <a:r>
              <a:t>Top: 10 inputs and their reconstructions.</a:t>
            </a:r>
          </a:p>
          <a:p>
            <a:pPr>
              <a:defRPr sz="1800" b="0">
                <a:solidFill>
                  <a:srgbClr val="445363"/>
                </a:solidFill>
                <a:latin typeface="Arial"/>
              </a:defRPr>
            </a:pPr>
          </a:p>
          <a:p>
            <a:pPr>
              <a:defRPr sz="1800" b="0">
                <a:solidFill>
                  <a:srgbClr val="445363"/>
                </a:solidFill>
                <a:latin typeface="Arial"/>
              </a:defRPr>
            </a:pPr>
            <a:r>
              <a:t>Right: 20 new images sampled from N(0, I).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749039"/>
            <a:ext cx="31089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1E3045"/>
                </a:solidFill>
                <a:latin typeface="Arial"/>
              </a:defRPr>
            </a:pPr>
            <a:r>
              <a:t>Many generated images are recognizable but blurry.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E3045"/>
                </a:solidFill>
                <a:latin typeface="Arial"/>
              </a:defRPr>
            </a:pPr>
            <a:r>
              <a:t>Latent space and interpolation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972800" cy="22860"/>
          </a:xfrm>
          <a:prstGeom prst="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445363"/>
                </a:solidFill>
                <a:latin typeface="Arial"/>
              </a:defRPr>
            </a:pPr>
            <a:r>
              <a:t>9</a:t>
            </a:r>
          </a:p>
        </p:txBody>
      </p:sp>
      <p:pic>
        <p:nvPicPr>
          <p:cNvPr id="5" name="Picture 4" descr="vae_laten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120640" cy="4480560"/>
          </a:xfrm>
          <a:prstGeom prst="rect">
            <a:avLst/>
          </a:prstGeom>
        </p:spPr>
      </p:pic>
      <p:pic>
        <p:nvPicPr>
          <p:cNvPr id="6" name="Picture 5" descr="vae_interpo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057400"/>
            <a:ext cx="539496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3291840"/>
            <a:ext cx="53035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445363"/>
                </a:solidFill>
                <a:latin typeface="Arial"/>
              </a:defRPr>
            </a:pPr>
            <a:r>
              <a:t>The 2D latent space has some visible class regions, but many colors overlap.</a:t>
            </a:r>
          </a:p>
          <a:p>
            <a:pPr>
              <a:defRPr sz="2000" b="0">
                <a:solidFill>
                  <a:srgbClr val="445363"/>
                </a:solidFill>
                <a:latin typeface="Arial"/>
              </a:defRPr>
            </a:pPr>
          </a:p>
          <a:p>
            <a:pPr>
              <a:defRPr sz="2000" b="0">
                <a:solidFill>
                  <a:srgbClr val="445363"/>
                </a:solidFill>
                <a:latin typeface="Arial"/>
              </a:defRPr>
            </a:pPr>
            <a:r>
              <a:t>The sneaker-to-T-shirt interpolation changes gradually.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E3045"/>
                </a:solidFill>
                <a:latin typeface="Arial"/>
              </a:defRPr>
            </a:pPr>
            <a:r>
              <a:t>Conclusions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972800" cy="22860"/>
          </a:xfrm>
          <a:prstGeom prst="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445363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881360" cy="813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445363"/>
                </a:solidFill>
                <a:latin typeface="Arial"/>
              </a:defRPr>
            </a:pPr>
            <a:r>
              <a:t>•  Representation choice changed the K-means scores even though K-means stayed fixed.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10881360" cy="813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445363"/>
                </a:solidFill>
                <a:latin typeface="Arial"/>
              </a:defRPr>
            </a:pPr>
            <a:r>
              <a:t>•  VAE-20 reached NMI 0.5713 and ARI 0.4038 in this run.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881360" cy="813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445363"/>
                </a:solidFill>
                <a:latin typeface="Arial"/>
              </a:defRPr>
            </a:pPr>
            <a:r>
              <a:t>•  Reconstruction quality alone did not predict clustering quality.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77639"/>
            <a:ext cx="10881360" cy="813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445363"/>
                </a:solidFill>
                <a:latin typeface="Arial"/>
              </a:defRPr>
            </a:pPr>
            <a:r>
              <a:t>•  Next: repeat across seeds, train longer, and try a convolutional VAE.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E3045"/>
                </a:solidFill>
                <a:latin typeface="Arial"/>
              </a:defRPr>
            </a:pPr>
            <a:r>
              <a:t>Main limit: five epochs and one random seed make this an initial result.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